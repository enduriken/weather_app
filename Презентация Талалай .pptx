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  <p:sldId id="263" r:id="rId9"/>
    <p:sldId id="265" r:id="rId10"/>
    <p:sldId id="267" r:id="rId11"/>
    <p:sldId id="269" r:id="rId12"/>
    <p:sldId id="270" r:id="rId13"/>
    <p:sldId id="266" r:id="rId14"/>
    <p:sldId id="264" r:id="rId15"/>
    <p:sldId id="268" r:id="rId16"/>
    <p:sldId id="271" r:id="rId17"/>
  </p:sldIdLst>
  <p:sldSz cx="12192000" cy="6858000"/>
  <p:notesSz cx="6858000" cy="99472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4A2A8A-80B2-4E02-A663-BB5C7AD04FC7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18813-9069-4B0F-A332-2B7B0EE1643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019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1D4E3-1AA2-4317-870B-43098798FDEB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13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F919-342F-4E75-9893-A9A8217C2854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698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7690D-80DE-49D1-93E8-570FE1C5A5F6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02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9F431-EA1C-4839-AA7A-83624B9AE982}" type="datetime1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866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D332-99C4-4461-A773-2F21B9F2044E}" type="datetime1">
              <a:rPr lang="ru-RU" smtClean="0"/>
              <a:t>16.03.2026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76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64F22-37E7-4430-9E2B-143AB0781CC6}" type="datetime1">
              <a:rPr lang="ru-RU" smtClean="0"/>
              <a:t>16.03.2026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62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397C6-DFDB-45DC-BE86-0F9354F36FD0}" type="datetime1">
              <a:rPr lang="ru-RU" smtClean="0"/>
              <a:t>16.03.2026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518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2457A-52DD-49C8-B14B-2983BB884C67}" type="datetime1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418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D959E-B0CF-47D0-B259-C2FB4499117D}" type="datetime1">
              <a:rPr lang="ru-RU" smtClean="0"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933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203D7-1AF3-41C7-9569-1DF9256AE6B2}" type="datetime1">
              <a:rPr lang="ru-RU" smtClean="0"/>
              <a:t>16.03.2026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6437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E4A45-898B-4DFB-8B13-ECD40F6D4AD4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562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165A-F9D4-45A0-AA43-721CB26D057C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8447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15C4D-9697-416E-8349-2CCBC5F2C3F5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015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3C6BD-7046-454B-83B6-9BD0589788C6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5384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21466-D832-4CD4-A6F2-3A2FBD8BB205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6396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3D746-8506-42EB-9375-E7D71261B84C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264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19DDA-5378-4977-9319-D0C4048CE7B2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1095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65BB0E0-803B-482E-A345-DE9011027135}" type="datetime1">
              <a:rPr lang="ru-RU" smtClean="0"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D028360-FC51-4A1D-A919-30A0982FFF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1597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575907-8302-4DAC-ADC3-647128DC6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276" y="0"/>
            <a:ext cx="10635448" cy="1802166"/>
          </a:xfrm>
        </p:spPr>
        <p:txBody>
          <a:bodyPr>
            <a:normAutofit/>
          </a:bodyPr>
          <a:lstStyle/>
          <a:p>
            <a:pPr algn="ctr"/>
            <a:r>
              <a:rPr lang="ru-RU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общеобразовательное учреждение города Москвы «Вешняковская школа имени полного кавалера ордена Славы </a:t>
            </a:r>
            <a:br>
              <a:rPr lang="ru-RU" sz="18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В.П. Бехтина»</a:t>
            </a:r>
            <a:br>
              <a:rPr lang="ru-RU" sz="18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учреждение высшего образования «МИРЭА — Российский технологический университет» 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545A11-32F5-4AD2-B4CB-994E766B0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4163" y="1961800"/>
            <a:ext cx="7643674" cy="1947333"/>
          </a:xfrm>
        </p:spPr>
        <p:txBody>
          <a:bodyPr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РАЗРАБОТКА СИСТЕМЫ ИНТЕЛЛЕКТУАЛЬНОГО ПОДБОРА ГАРДЕРОБА НА ОСНОВЕ ПРОГНОЗА ПОГОДЫ С ИСПОЛЬЗОВАНИЕМ МОДЕЛЕЙ МАШИННОГО ОБУЧЕНИЯ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5255F-5606-4000-AFBC-AC76A76DB0FE}"/>
              </a:ext>
            </a:extLst>
          </p:cNvPr>
          <p:cNvSpPr txBox="1"/>
          <p:nvPr/>
        </p:nvSpPr>
        <p:spPr>
          <a:xfrm>
            <a:off x="5353235" y="3515556"/>
            <a:ext cx="67085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Автор:</a:t>
            </a:r>
          </a:p>
          <a:p>
            <a:pPr algn="r"/>
            <a:r>
              <a:rPr lang="ru-RU" dirty="0"/>
              <a:t>Ученик 10Б ГБОУ Вешняковской школы</a:t>
            </a:r>
          </a:p>
          <a:p>
            <a:pPr algn="r"/>
            <a:r>
              <a:rPr lang="ru-RU" dirty="0"/>
              <a:t> имени полного кавалера ордена Славы В.П. Бехтина</a:t>
            </a:r>
          </a:p>
          <a:p>
            <a:pPr algn="r"/>
            <a:r>
              <a:rPr lang="ru-RU" dirty="0"/>
              <a:t>Талалай Степан Алексеевич</a:t>
            </a:r>
          </a:p>
          <a:p>
            <a:pPr algn="r"/>
            <a:endParaRPr lang="ru-RU" dirty="0"/>
          </a:p>
          <a:p>
            <a:pPr algn="r"/>
            <a:r>
              <a:rPr lang="ru-RU" dirty="0"/>
              <a:t>Научные руководители:</a:t>
            </a:r>
          </a:p>
          <a:p>
            <a:pPr algn="r"/>
            <a:r>
              <a:rPr lang="ru-RU" dirty="0"/>
              <a:t>преподаватели детского технопарка «Альтаир» РТУ МИРЭА</a:t>
            </a:r>
          </a:p>
          <a:p>
            <a:pPr algn="r"/>
            <a:r>
              <a:rPr lang="ru-RU" dirty="0"/>
              <a:t>Черкасов Роман Иванович</a:t>
            </a:r>
          </a:p>
          <a:p>
            <a:pPr algn="r"/>
            <a:r>
              <a:rPr lang="ru-RU" dirty="0"/>
              <a:t>Карева Маргарита Витальевна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6095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563D4A-4124-4F0B-AD5F-93D0FDC4C57E}"/>
              </a:ext>
            </a:extLst>
          </p:cNvPr>
          <p:cNvSpPr txBox="1"/>
          <p:nvPr/>
        </p:nvSpPr>
        <p:spPr>
          <a:xfrm>
            <a:off x="3459480" y="193040"/>
            <a:ext cx="5273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Цель работы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73A4A27-37DF-474C-BCD7-4A94A86C4DB9}"/>
              </a:ext>
            </a:extLst>
          </p:cNvPr>
          <p:cNvSpPr/>
          <p:nvPr/>
        </p:nvSpPr>
        <p:spPr>
          <a:xfrm>
            <a:off x="284480" y="1043617"/>
            <a:ext cx="11623040" cy="1154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Разработка и внедрение общедоступного веб-приложения для интеллектуального подбора гардероба, которое на основе текущих, а также прогнозируемых погодных условий формирует персонализированные рекомендации по выбору одежды с точностью не менее 85% с использованием моделей машинного обучения.</a:t>
            </a:r>
            <a:endParaRPr lang="ru-RU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299262-2B7C-486D-8819-3C683EF88AC0}"/>
              </a:ext>
            </a:extLst>
          </p:cNvPr>
          <p:cNvSpPr txBox="1"/>
          <p:nvPr/>
        </p:nvSpPr>
        <p:spPr>
          <a:xfrm>
            <a:off x="7630160" y="2374885"/>
            <a:ext cx="254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Задачи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E5326A-595C-4DE2-87EE-78AEFD53F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" y="2739418"/>
            <a:ext cx="5368925" cy="359026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9723933-829A-4071-B752-17C1C10B86A6}"/>
              </a:ext>
            </a:extLst>
          </p:cNvPr>
          <p:cNvSpPr/>
          <p:nvPr/>
        </p:nvSpPr>
        <p:spPr>
          <a:xfrm>
            <a:off x="5952576" y="2898105"/>
            <a:ext cx="6254220" cy="3739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Задача 1. Проектирование и реализация архитектуры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Создание архитектуры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из 3 звеньев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               "клиент-сервер-ML модель"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Создание Flask-приложения.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Организация модульной структуры проекта.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Задача 2: Разработка ML-модели рекомендаций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Генерация синтетического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датасета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(5000+ примеров)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Обучение GradientBoostingClassifier с 16 признаками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логики специальных рекомендаций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C9DD76-1F56-4338-9964-3A36FD88B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3919" y="5979462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79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C29E205-8E26-41D7-9091-A0C60C72A98A}"/>
              </a:ext>
            </a:extLst>
          </p:cNvPr>
          <p:cNvSpPr/>
          <p:nvPr/>
        </p:nvSpPr>
        <p:spPr>
          <a:xfrm>
            <a:off x="265520" y="4112049"/>
            <a:ext cx="4989250" cy="2262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Задача 3: Разработка алгоритма рекомендаций с учётом факторов времени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Учет времени суток и сезонности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Обработка и нормализация данных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логики для особых погодных условий</a:t>
            </a:r>
            <a:endParaRPr lang="ru-RU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394156B-1267-4BF3-A8B3-961E94369E5A}"/>
              </a:ext>
            </a:extLst>
          </p:cNvPr>
          <p:cNvSpPr/>
          <p:nvPr/>
        </p:nvSpPr>
        <p:spPr>
          <a:xfrm>
            <a:off x="6306495" y="369684"/>
            <a:ext cx="5206985" cy="3001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Задача 4: Создание пользовательского интерфейса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интуитивно понятного веб-интерфейса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Визуализация рекомендаций через систему эмодзи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поиска городов и списка популярных вариантов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(пример снизу из моего проекта)</a:t>
            </a:r>
            <a:endParaRPr lang="ru-RU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AB498C2-D7AA-4003-B2D1-D7F6B70DD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69" y="147844"/>
            <a:ext cx="5227952" cy="34928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7F30658-4AEC-4C02-8819-A46ED04E8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084" y="4270203"/>
            <a:ext cx="6678000" cy="1946362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5033F0B2-91C7-4BB0-B13C-FE1E55CA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4839" y="6039757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446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19F483-6C2F-47E0-8DF0-3481E6F3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0"/>
            <a:ext cx="8534400" cy="521646"/>
          </a:xfrm>
        </p:spPr>
        <p:txBody>
          <a:bodyPr>
            <a:normAutofit/>
          </a:bodyPr>
          <a:lstStyle/>
          <a:p>
            <a:pPr algn="ctr"/>
            <a:r>
              <a:rPr lang="ru-RU" sz="2800" b="1" cap="none" dirty="0">
                <a:latin typeface="Arial" panose="020B0604020202020204" pitchFamily="34" charset="0"/>
                <a:cs typeface="Arial" panose="020B0604020202020204" pitchFamily="34" charset="0"/>
              </a:rPr>
              <a:t>Актуальность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8F0BD8-D9ED-4B81-A600-970E4F2C3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635" y="521646"/>
            <a:ext cx="7329995" cy="295001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ru-RU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Почему эта проблема важна?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ru-RU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Ежедневная задача по выбору одежды</a:t>
            </a:r>
            <a:r>
              <a:rPr lang="en-US" sz="2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Каждое утро люди тратят 5-15 минут на выбор одежды по погоде.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40% опозданий на работу/учёбу связаны с долгим выбором гардероба.</a:t>
            </a:r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ru-RU" sz="2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Неправильный выбор одежды приводит к дискомфорту, болезням, испорченному настроению.</a:t>
            </a:r>
          </a:p>
          <a:p>
            <a:pPr>
              <a:lnSpc>
                <a:spcPct val="170000"/>
              </a:lnSpc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DA3E40-3C7A-4A36-911E-F4FD49C9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630" y="521646"/>
            <a:ext cx="4065973" cy="279624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27B375-5C9E-4EBD-89CE-91C5B09B0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630" y="3790027"/>
            <a:ext cx="4065973" cy="2486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DF0CD5-CE7D-49C5-957F-E4FD174A066F}"/>
              </a:ext>
            </a:extLst>
          </p:cNvPr>
          <p:cNvSpPr txBox="1"/>
          <p:nvPr/>
        </p:nvSpPr>
        <p:spPr>
          <a:xfrm>
            <a:off x="171635" y="3790027"/>
            <a:ext cx="732999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Экономический аспект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Потеря времени на ежедневные решения о выборе одежды.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Непредусмотренные медицинские расходы из-за переохлаждения/перегрева.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Неэффективное использование сезонной одежды.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36A531-8440-442B-AB6D-475920B3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8206" y="6078554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67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3A2374-51DD-4A1B-BE16-49225BA6BE90}"/>
              </a:ext>
            </a:extLst>
          </p:cNvPr>
          <p:cNvSpPr txBox="1"/>
          <p:nvPr/>
        </p:nvSpPr>
        <p:spPr>
          <a:xfrm>
            <a:off x="1900800" y="109805"/>
            <a:ext cx="7741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Есть ли аналоги?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D9506518-75B9-4AC5-9664-6A00F823E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437212"/>
              </p:ext>
            </p:extLst>
          </p:nvPr>
        </p:nvGraphicFramePr>
        <p:xfrm>
          <a:off x="161924" y="858535"/>
          <a:ext cx="6087956" cy="25704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5266">
                  <a:extLst>
                    <a:ext uri="{9D8B030D-6E8A-4147-A177-3AD203B41FA5}">
                      <a16:colId xmlns:a16="http://schemas.microsoft.com/office/drawing/2014/main" val="4152706136"/>
                    </a:ext>
                  </a:extLst>
                </a:gridCol>
                <a:gridCol w="2077712">
                  <a:extLst>
                    <a:ext uri="{9D8B030D-6E8A-4147-A177-3AD203B41FA5}">
                      <a16:colId xmlns:a16="http://schemas.microsoft.com/office/drawing/2014/main" val="1527666451"/>
                    </a:ext>
                  </a:extLst>
                </a:gridCol>
                <a:gridCol w="2224978">
                  <a:extLst>
                    <a:ext uri="{9D8B030D-6E8A-4147-A177-3AD203B41FA5}">
                      <a16:colId xmlns:a16="http://schemas.microsoft.com/office/drawing/2014/main" val="1574781102"/>
                    </a:ext>
                  </a:extLst>
                </a:gridCol>
              </a:tblGrid>
              <a:tr h="619190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Существующее приложение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Что оно имеет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Чего ему не хватает</a:t>
                      </a:r>
                      <a:endParaRPr lang="ru-RU" sz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179211"/>
                  </a:ext>
                </a:extLst>
              </a:tr>
              <a:tr h="6192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Яндекс.Погода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Температура, осадки, ветер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 рекомендаций по одежде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445009"/>
                  </a:ext>
                </a:extLst>
              </a:tr>
              <a:tr h="7127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Weather.com</a:t>
                      </a:r>
                      <a:endParaRPr lang="ru-RU" sz="12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Подробный прогноз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Общие советы без персонализации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8966685"/>
                  </a:ext>
                </a:extLst>
              </a:tr>
              <a:tr h="6192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Гисметео</a:t>
                      </a:r>
                      <a:endParaRPr lang="ru-RU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Точные метеоданные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 учета личных предпочтений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48002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2067A68-28C3-4A9A-8D14-58ED3D09E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471" y="943928"/>
            <a:ext cx="1141158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99C906-447B-43B2-980E-CF0748A24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06" y="3995281"/>
            <a:ext cx="4357750" cy="2375600"/>
          </a:xfrm>
          <a:prstGeom prst="rect">
            <a:avLst/>
          </a:prstGeom>
        </p:spPr>
      </p:pic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ED4E272-B861-41CC-A298-52168EFB0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716361"/>
              </p:ext>
            </p:extLst>
          </p:nvPr>
        </p:nvGraphicFramePr>
        <p:xfrm>
          <a:off x="5858928" y="3995281"/>
          <a:ext cx="5850720" cy="23755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0240">
                  <a:extLst>
                    <a:ext uri="{9D8B030D-6E8A-4147-A177-3AD203B41FA5}">
                      <a16:colId xmlns:a16="http://schemas.microsoft.com/office/drawing/2014/main" val="1916299573"/>
                    </a:ext>
                  </a:extLst>
                </a:gridCol>
                <a:gridCol w="1956269">
                  <a:extLst>
                    <a:ext uri="{9D8B030D-6E8A-4147-A177-3AD203B41FA5}">
                      <a16:colId xmlns:a16="http://schemas.microsoft.com/office/drawing/2014/main" val="505969708"/>
                    </a:ext>
                  </a:extLst>
                </a:gridCol>
                <a:gridCol w="1944211">
                  <a:extLst>
                    <a:ext uri="{9D8B030D-6E8A-4147-A177-3AD203B41FA5}">
                      <a16:colId xmlns:a16="http://schemas.microsoft.com/office/drawing/2014/main" val="3348408540"/>
                    </a:ext>
                  </a:extLst>
                </a:gridCol>
              </a:tblGrid>
              <a:tr h="45569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Stylebook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Организация гардероба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Нет связи с погодой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943261"/>
                  </a:ext>
                </a:extLst>
              </a:tr>
              <a:tr h="95995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Cladwell</a:t>
                      </a:r>
                      <a:endParaRPr lang="ru-RU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Капсульный гардероб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Статические рекомендации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760242"/>
                  </a:ext>
                </a:extLst>
              </a:tr>
              <a:tr h="95995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Pureple</a:t>
                      </a:r>
                      <a:endParaRPr lang="ru-RU" sz="12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Комбинации одежды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 учитывает погодные условия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9856"/>
                  </a:ext>
                </a:extLst>
              </a:tr>
            </a:tbl>
          </a:graphicData>
        </a:graphic>
      </p:graphicFrame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4141A34-75D6-4E21-8153-EC5299B5F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04" y="858535"/>
            <a:ext cx="3935259" cy="2570465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8D79ED8-6072-41D5-8262-46F849C5B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6982" y="6188075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01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0DDC8EC-2BC0-46AA-AE0A-9C8FD6F0F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999" y="121137"/>
            <a:ext cx="5325076" cy="29593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6A8212D-F903-4FD5-8C61-B80B6D771914}"/>
              </a:ext>
            </a:extLst>
          </p:cNvPr>
          <p:cNvSpPr txBox="1"/>
          <p:nvPr/>
        </p:nvSpPr>
        <p:spPr>
          <a:xfrm>
            <a:off x="6704998" y="2194299"/>
            <a:ext cx="172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Сайты прогнозов погоды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08A94-2D5F-4384-9FF7-85DE443C5A14}"/>
              </a:ext>
            </a:extLst>
          </p:cNvPr>
          <p:cNvSpPr txBox="1"/>
          <p:nvPr/>
        </p:nvSpPr>
        <p:spPr>
          <a:xfrm>
            <a:off x="10572784" y="2125263"/>
            <a:ext cx="1513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Сайты с подбором одежды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FDADA1-0CBE-46F7-B172-66B91FE53B0F}"/>
              </a:ext>
            </a:extLst>
          </p:cNvPr>
          <p:cNvSpPr txBox="1"/>
          <p:nvPr/>
        </p:nvSpPr>
        <p:spPr>
          <a:xfrm>
            <a:off x="9095316" y="1104883"/>
            <a:ext cx="1097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Мой проект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1D8887-1D98-4B01-8B1A-5E5B4B6F4A7D}"/>
              </a:ext>
            </a:extLst>
          </p:cNvPr>
          <p:cNvSpPr txBox="1"/>
          <p:nvPr/>
        </p:nvSpPr>
        <p:spPr>
          <a:xfrm>
            <a:off x="48827" y="228600"/>
            <a:ext cx="4873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Проблема на рынке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4AEB003-E58A-419B-9334-E4AA7AB14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27" y="1118939"/>
            <a:ext cx="1209434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ПОГОДНЫЕ ПРИЛОЖЕНИЯ           </a:t>
            </a:r>
            <a:r>
              <a:rPr lang="ru-RU" altLang="ru-RU" sz="11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ПРИЛОЖЕНИЯ ДЛЯ ГАРДЕРОБА</a:t>
            </a:r>
            <a:r>
              <a:rPr lang="ru-RU" altLang="ru-RU" sz="11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ru-RU" altLang="ru-RU" sz="11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1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ТОЛЬКО погода                                      ТОЛЬКО одежда/стиль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                </a:t>
            </a: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                                  </a:t>
            </a:r>
            <a:r>
              <a:rPr kumimoji="0" lang="ru-RU" altLang="ru-RU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НЕТ ОБЪЕДИНЕНИЯ</a:t>
            </a:r>
            <a:endParaRPr kumimoji="0" lang="ru-RU" altLang="ru-RU" sz="11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E420F400-557A-4EAB-A738-63A1255C93FD}"/>
              </a:ext>
            </a:extLst>
          </p:cNvPr>
          <p:cNvCxnSpPr>
            <a:cxnSpLocks/>
          </p:cNvCxnSpPr>
          <p:nvPr/>
        </p:nvCxnSpPr>
        <p:spPr>
          <a:xfrm>
            <a:off x="1091953" y="1384917"/>
            <a:ext cx="0" cy="301840"/>
          </a:xfrm>
          <a:prstGeom prst="straightConnector1">
            <a:avLst/>
          </a:prstGeom>
          <a:ln w="12700"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E4017090-297A-4E60-9E49-149E13E24C07}"/>
              </a:ext>
            </a:extLst>
          </p:cNvPr>
          <p:cNvCxnSpPr>
            <a:cxnSpLocks/>
          </p:cNvCxnSpPr>
          <p:nvPr/>
        </p:nvCxnSpPr>
        <p:spPr>
          <a:xfrm>
            <a:off x="3863266" y="1384917"/>
            <a:ext cx="0" cy="301840"/>
          </a:xfrm>
          <a:prstGeom prst="straightConnector1">
            <a:avLst/>
          </a:prstGeom>
          <a:ln w="12700">
            <a:solidFill>
              <a:schemeClr val="bg1">
                <a:alpha val="6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B9E7367-1FFB-467E-965D-0507CD72FFD7}"/>
              </a:ext>
            </a:extLst>
          </p:cNvPr>
          <p:cNvCxnSpPr/>
          <p:nvPr/>
        </p:nvCxnSpPr>
        <p:spPr>
          <a:xfrm>
            <a:off x="1091953" y="1903769"/>
            <a:ext cx="0" cy="484324"/>
          </a:xfrm>
          <a:prstGeom prst="line">
            <a:avLst/>
          </a:prstGeom>
          <a:ln w="12700">
            <a:solidFill>
              <a:schemeClr val="bg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C3948A72-747F-4614-B954-C1AEE7AA6AB0}"/>
              </a:ext>
            </a:extLst>
          </p:cNvPr>
          <p:cNvCxnSpPr/>
          <p:nvPr/>
        </p:nvCxnSpPr>
        <p:spPr>
          <a:xfrm>
            <a:off x="3863266" y="1903769"/>
            <a:ext cx="0" cy="484324"/>
          </a:xfrm>
          <a:prstGeom prst="line">
            <a:avLst/>
          </a:prstGeom>
          <a:ln w="12700">
            <a:solidFill>
              <a:schemeClr val="bg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44305DA1-0713-42FB-BAC9-0AB7DADA6E35}"/>
              </a:ext>
            </a:extLst>
          </p:cNvPr>
          <p:cNvCxnSpPr>
            <a:cxnSpLocks/>
          </p:cNvCxnSpPr>
          <p:nvPr/>
        </p:nvCxnSpPr>
        <p:spPr>
          <a:xfrm flipH="1">
            <a:off x="1091954" y="2388093"/>
            <a:ext cx="2771312" cy="0"/>
          </a:xfrm>
          <a:prstGeom prst="line">
            <a:avLst/>
          </a:prstGeom>
          <a:ln w="12700">
            <a:solidFill>
              <a:schemeClr val="bg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6C46340-1C9B-4B64-836F-6A56FAB2E210}"/>
              </a:ext>
            </a:extLst>
          </p:cNvPr>
          <p:cNvSpPr txBox="1"/>
          <p:nvPr/>
        </p:nvSpPr>
        <p:spPr>
          <a:xfrm>
            <a:off x="737551" y="3232813"/>
            <a:ext cx="4760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Моё решение проблемы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BD279955-E3F0-4125-89EA-D877181A8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129" y="4117172"/>
            <a:ext cx="759374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ПОГОДНЫЕ ДАННЫЕ      +      ML-АНАЛИЗ        +           РЕКОМЕНДАЦИИ      =        КОМПЛЕКСНОЕ РЕШЕНИЕ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100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419DFD25-4BA6-43AF-83D5-C672BECBA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129" y="4767747"/>
            <a:ext cx="751938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1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Текущая погода                    GradientBoosting                              Подбор                                 Ежедневный</a:t>
            </a:r>
            <a:r>
              <a:rPr kumimoji="0" lang="ru-RU" altLang="ru-RU" sz="11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190A2F5E-43CE-4563-9276-C2BF0E77F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129" y="5000696"/>
            <a:ext cx="7247496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kumimoji="0" lang="ru-RU" altLang="ru-RU" sz="11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Прогноз                        Анализ 16 параметров                        гардероба                            помощник</a:t>
            </a:r>
            <a:r>
              <a:rPr kumimoji="0" lang="ru-RU" altLang="ru-RU" sz="11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70071100-6B76-4B77-93E2-DF41E2258AF6}"/>
              </a:ext>
            </a:extLst>
          </p:cNvPr>
          <p:cNvCxnSpPr>
            <a:cxnSpLocks/>
          </p:cNvCxnSpPr>
          <p:nvPr/>
        </p:nvCxnSpPr>
        <p:spPr>
          <a:xfrm>
            <a:off x="1269507" y="4368139"/>
            <a:ext cx="0" cy="427756"/>
          </a:xfrm>
          <a:prstGeom prst="straightConnector1">
            <a:avLst/>
          </a:prstGeom>
          <a:ln w="1905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3F5AA8D5-E2E4-46C1-9450-E3C9F184581A}"/>
              </a:ext>
            </a:extLst>
          </p:cNvPr>
          <p:cNvCxnSpPr>
            <a:cxnSpLocks/>
          </p:cNvCxnSpPr>
          <p:nvPr/>
        </p:nvCxnSpPr>
        <p:spPr>
          <a:xfrm>
            <a:off x="2966621" y="4379636"/>
            <a:ext cx="0" cy="427756"/>
          </a:xfrm>
          <a:prstGeom prst="straightConnector1">
            <a:avLst/>
          </a:prstGeom>
          <a:ln w="1905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114A1990-C558-46A6-956D-12C1A2844366}"/>
              </a:ext>
            </a:extLst>
          </p:cNvPr>
          <p:cNvCxnSpPr>
            <a:cxnSpLocks/>
          </p:cNvCxnSpPr>
          <p:nvPr/>
        </p:nvCxnSpPr>
        <p:spPr>
          <a:xfrm>
            <a:off x="4785261" y="4401420"/>
            <a:ext cx="0" cy="427756"/>
          </a:xfrm>
          <a:prstGeom prst="straightConnector1">
            <a:avLst/>
          </a:prstGeom>
          <a:ln w="1905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id="{24B176E8-1B08-401F-A87C-2785DD8FB4F6}"/>
              </a:ext>
            </a:extLst>
          </p:cNvPr>
          <p:cNvCxnSpPr>
            <a:cxnSpLocks/>
          </p:cNvCxnSpPr>
          <p:nvPr/>
        </p:nvCxnSpPr>
        <p:spPr>
          <a:xfrm>
            <a:off x="6714558" y="4410386"/>
            <a:ext cx="0" cy="427756"/>
          </a:xfrm>
          <a:prstGeom prst="straightConnector1">
            <a:avLst/>
          </a:prstGeom>
          <a:ln w="1905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1B24468D-5BD9-44F1-9D7B-611CFBA82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595" y="3305743"/>
            <a:ext cx="4000480" cy="3315628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353000-C2B2-45F5-BCF9-042249A69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1925" y="6188075"/>
            <a:ext cx="716116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762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196F44A-C0F8-4890-B69C-718E3A216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37" y="993454"/>
            <a:ext cx="5658120" cy="2435546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7A7023D-8702-422A-AC71-24112602BB2F}"/>
              </a:ext>
            </a:extLst>
          </p:cNvPr>
          <p:cNvSpPr/>
          <p:nvPr/>
        </p:nvSpPr>
        <p:spPr>
          <a:xfrm>
            <a:off x="6096000" y="383619"/>
            <a:ext cx="5791200" cy="1893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Этап 1.  Исследование и проектирование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Анализ существующих решений и выявление пробелов.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Определение стека технологий (Python, Flask, scikit-learn).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Проектирование трехзвенной архитектуры системы.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522B50-8D07-4D7F-A24C-5D534949A66A}"/>
              </a:ext>
            </a:extLst>
          </p:cNvPr>
          <p:cNvSpPr txBox="1"/>
          <p:nvPr/>
        </p:nvSpPr>
        <p:spPr>
          <a:xfrm>
            <a:off x="845040" y="186429"/>
            <a:ext cx="4287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Этапы работы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CFFF349-DF50-42D9-97E6-F58ECA520C53}"/>
              </a:ext>
            </a:extLst>
          </p:cNvPr>
          <p:cNvSpPr/>
          <p:nvPr/>
        </p:nvSpPr>
        <p:spPr>
          <a:xfrm>
            <a:off x="277943" y="4155092"/>
            <a:ext cx="5658120" cy="26320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Этап 3. Разработка ML-модели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Реализация системы специальных рекомендаций.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Создание синтетического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dataset-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а (более 5000 примеров).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Разработка и обучение GradientBoostingClassifier.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Достижение точности модели не менее 85%.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281940F-6F59-4614-8C99-320FE5C63622}"/>
              </a:ext>
            </a:extLst>
          </p:cNvPr>
          <p:cNvSpPr/>
          <p:nvPr/>
        </p:nvSpPr>
        <p:spPr>
          <a:xfrm>
            <a:off x="6098611" y="2202956"/>
            <a:ext cx="5658120" cy="1524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Этап 2. Разработка backend-системы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Создание Flask-приложения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Интеграция с OpenWeather API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обработки и нормализации данных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B3486B6-5931-44E0-956D-2787FC18C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512" y="3859967"/>
            <a:ext cx="4731799" cy="271322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55B575-6DD8-4894-8A65-AAF1D6B1D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6551" y="6074998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340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0A10653-E473-4BFC-B8AA-18B7BBE65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73" y="3254596"/>
            <a:ext cx="5249060" cy="340402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0C88FA-9C03-4194-8814-264D5CB3F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2210"/>
            <a:ext cx="5746813" cy="3194822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22F462D-0407-4F6E-ACD5-0E4EA8930E39}"/>
              </a:ext>
            </a:extLst>
          </p:cNvPr>
          <p:cNvSpPr/>
          <p:nvPr/>
        </p:nvSpPr>
        <p:spPr>
          <a:xfrm>
            <a:off x="500108" y="749908"/>
            <a:ext cx="6096000" cy="189333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Этап 4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Разработка frontend-интерфейса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Создание адаптивного веб-интерфейса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Реализация системы поиска городов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Визуализация рекомендаций через эмодзи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7375600-6481-45E0-9AAF-E7853A0B62AD}"/>
              </a:ext>
            </a:extLst>
          </p:cNvPr>
          <p:cNvSpPr/>
          <p:nvPr/>
        </p:nvSpPr>
        <p:spPr>
          <a:xfrm>
            <a:off x="6794376" y="4009938"/>
            <a:ext cx="5323643" cy="1524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Внедрение и тестирование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Соединение всех частей в единую систему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Тестирование всех сценариев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Исправление ошибок и доработка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FC83DFE-6DCC-401F-A1A4-D0826156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85782" y="5988696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64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19918C-AB28-473A-8AEC-A39CE0B80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583" y="226896"/>
            <a:ext cx="4742622" cy="312410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8D8777-3449-41D8-9114-5A78BA4F4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44" y="3695408"/>
            <a:ext cx="5037846" cy="292085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873BAE6-AC85-4956-95D0-BD1F74CBD1F4}"/>
              </a:ext>
            </a:extLst>
          </p:cNvPr>
          <p:cNvSpPr/>
          <p:nvPr/>
        </p:nvSpPr>
        <p:spPr>
          <a:xfrm>
            <a:off x="155591" y="333874"/>
            <a:ext cx="6768992" cy="1154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и тестирование: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Персональный компьютер (любой с ОС Windows/macOS/Linux).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Доступ в Интернет для загрузки библиотек и работы с API.</a:t>
            </a:r>
            <a:endParaRPr lang="ru-RU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40623B-E058-4F70-8CDD-3D18CBBE3398}"/>
              </a:ext>
            </a:extLst>
          </p:cNvPr>
          <p:cNvSpPr/>
          <p:nvPr/>
        </p:nvSpPr>
        <p:spPr>
          <a:xfrm>
            <a:off x="155591" y="1826997"/>
            <a:ext cx="6768992" cy="1524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Бесплатные ресурсы: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API ключ OpenWeatherMap (60 запросов/мин, 1млн/мес).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Библиотеки с открытым исходным кодом.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Образовательные материалы и документация.</a:t>
            </a:r>
            <a:endParaRPr lang="ru-RU" sz="160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D51FDA6-0C5A-499C-881A-4D6C7F6FA099}"/>
              </a:ext>
            </a:extLst>
          </p:cNvPr>
          <p:cNvSpPr/>
          <p:nvPr/>
        </p:nvSpPr>
        <p:spPr>
          <a:xfrm>
            <a:off x="5902611" y="3879692"/>
            <a:ext cx="6247894" cy="2508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1. Практичность: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Все технологии имеют бесплатные версии.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Минимальные требования к оборудованию.</a:t>
            </a:r>
          </a:p>
          <a:p>
            <a:pPr>
              <a:lnSpc>
                <a:spcPct val="20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2. Эффективность: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 GradientBoosting показал лучшие результаты на табличных данных.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524CD92-847E-4020-B893-6C70E0D7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8111" y="6053622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303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0CAD0D6-3862-4076-8C6D-69C149B46FDF}"/>
              </a:ext>
            </a:extLst>
          </p:cNvPr>
          <p:cNvSpPr txBox="1"/>
          <p:nvPr/>
        </p:nvSpPr>
        <p:spPr>
          <a:xfrm>
            <a:off x="4269452" y="251359"/>
            <a:ext cx="3834456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Пример работы моего проекта по рекомендациям гардероба по погоде для Якутска.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7A47B8D-2080-4521-84F4-09E21BED2D80}"/>
              </a:ext>
            </a:extLst>
          </p:cNvPr>
          <p:cNvCxnSpPr>
            <a:cxnSpLocks/>
          </p:cNvCxnSpPr>
          <p:nvPr/>
        </p:nvCxnSpPr>
        <p:spPr>
          <a:xfrm flipH="1">
            <a:off x="2121763" y="5848808"/>
            <a:ext cx="10264" cy="667402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FBF354E-F1A9-4862-B4D5-12289A43310E}"/>
              </a:ext>
            </a:extLst>
          </p:cNvPr>
          <p:cNvCxnSpPr/>
          <p:nvPr/>
        </p:nvCxnSpPr>
        <p:spPr>
          <a:xfrm>
            <a:off x="2132027" y="6516210"/>
            <a:ext cx="5502769" cy="0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67AF36E-1409-4B04-BA0C-DC1F51CE80E4}"/>
              </a:ext>
            </a:extLst>
          </p:cNvPr>
          <p:cNvCxnSpPr/>
          <p:nvPr/>
        </p:nvCxnSpPr>
        <p:spPr>
          <a:xfrm flipV="1">
            <a:off x="7634796" y="2317072"/>
            <a:ext cx="0" cy="4199138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7070ED5E-793A-4F40-92C8-18A6116AF1A4}"/>
              </a:ext>
            </a:extLst>
          </p:cNvPr>
          <p:cNvCxnSpPr/>
          <p:nvPr/>
        </p:nvCxnSpPr>
        <p:spPr>
          <a:xfrm>
            <a:off x="7634796" y="2317072"/>
            <a:ext cx="510135" cy="0"/>
          </a:xfrm>
          <a:prstGeom prst="straightConnector1">
            <a:avLst/>
          </a:prstGeom>
          <a:ln w="381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CC9BE2C-9F7F-4DF9-8606-43D1A1CE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72" y="6048524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EC99775-4108-4793-B636-A635C321E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32" y="149820"/>
            <a:ext cx="3803662" cy="181875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5C91BE3-61B1-4047-92F7-B1E0F2F21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31" y="1968576"/>
            <a:ext cx="3796245" cy="201731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6897E96-2881-4E00-8A27-8DE7D9C0C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931" y="3988985"/>
            <a:ext cx="3796245" cy="182570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352EA1B-D280-430B-8808-C2635DB90D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5925" y="89703"/>
            <a:ext cx="3836143" cy="233390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378C9AA-2F9E-467F-A823-E2A3405AE0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925" y="2430217"/>
            <a:ext cx="3836141" cy="226825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B498DE2-D4E9-41EC-B88F-FE2E2E3A76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3908" y="4698468"/>
            <a:ext cx="3900173" cy="201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0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C346B02-6483-40DE-A73E-91609D8D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188075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1171DD-9B47-4540-B827-C76ACD539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81232" cy="205337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6B4330-211C-454B-9EB5-24642B652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3377"/>
            <a:ext cx="4381232" cy="220108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9532F7-6833-4BAC-9B35-5E293EC0A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8" y="4222296"/>
            <a:ext cx="4360703" cy="13561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217165-C326-4E37-AD13-7C2532E05B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797" y="5271"/>
            <a:ext cx="4381232" cy="286398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BC3157-9D02-40F9-9F77-B038D9C87A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4797" y="2869253"/>
            <a:ext cx="4381233" cy="261195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A91688-7AD4-4474-88FB-F3E1A67914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4799" y="5384995"/>
            <a:ext cx="4381229" cy="1356179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332F24D-ADDD-44F4-9B88-920BB401C470}"/>
              </a:ext>
            </a:extLst>
          </p:cNvPr>
          <p:cNvCxnSpPr>
            <a:cxnSpLocks/>
          </p:cNvCxnSpPr>
          <p:nvPr/>
        </p:nvCxnSpPr>
        <p:spPr>
          <a:xfrm flipH="1">
            <a:off x="2050741" y="5640433"/>
            <a:ext cx="10264" cy="667402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AF14131-E437-4265-9267-F2035BCB2343}"/>
              </a:ext>
            </a:extLst>
          </p:cNvPr>
          <p:cNvCxnSpPr>
            <a:cxnSpLocks/>
          </p:cNvCxnSpPr>
          <p:nvPr/>
        </p:nvCxnSpPr>
        <p:spPr>
          <a:xfrm>
            <a:off x="2061005" y="6307835"/>
            <a:ext cx="4455205" cy="0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1E0D3B97-C26A-45A2-9C52-1EA4D86506AD}"/>
              </a:ext>
            </a:extLst>
          </p:cNvPr>
          <p:cNvCxnSpPr/>
          <p:nvPr/>
        </p:nvCxnSpPr>
        <p:spPr>
          <a:xfrm flipV="1">
            <a:off x="6525088" y="2108697"/>
            <a:ext cx="0" cy="4199138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19D2E534-794E-4254-9C61-67558181475D}"/>
              </a:ext>
            </a:extLst>
          </p:cNvPr>
          <p:cNvCxnSpPr>
            <a:cxnSpLocks/>
          </p:cNvCxnSpPr>
          <p:nvPr/>
        </p:nvCxnSpPr>
        <p:spPr>
          <a:xfrm>
            <a:off x="6525088" y="2082064"/>
            <a:ext cx="1109709" cy="0"/>
          </a:xfrm>
          <a:prstGeom prst="straightConnector1">
            <a:avLst/>
          </a:prstGeom>
          <a:ln w="381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44C231A-DD61-4F7F-9ADC-CF10A488EB14}"/>
              </a:ext>
            </a:extLst>
          </p:cNvPr>
          <p:cNvSpPr/>
          <p:nvPr/>
        </p:nvSpPr>
        <p:spPr>
          <a:xfrm>
            <a:off x="4497819" y="42984"/>
            <a:ext cx="3196362" cy="1154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Пример работы моего проекта по рекомендациям гардероба по погоде для Дубая.</a:t>
            </a:r>
          </a:p>
        </p:txBody>
      </p:sp>
    </p:spTree>
    <p:extLst>
      <p:ext uri="{BB962C8B-B14F-4D97-AF65-F5344CB8AC3E}">
        <p14:creationId xmlns:p14="http://schemas.microsoft.com/office/powerpoint/2010/main" val="77966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A9F1AF-61D6-4366-8C27-95213526B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11" y="6075624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B88914-09AB-4086-8D95-771C7AE1B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2" y="0"/>
            <a:ext cx="4309145" cy="193842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0F266C-C761-4324-9D00-C57F030BA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1" y="1889186"/>
            <a:ext cx="4309145" cy="21682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2AA2C1-BFC8-428E-8B42-E07957FF5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1" y="4057416"/>
            <a:ext cx="4309145" cy="131985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5BE2D0-0B45-4CC7-AF42-8EF34A8413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058" y="0"/>
            <a:ext cx="4317284" cy="23969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5B0541-1D88-46D3-8952-2D76014C9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1058" y="2364296"/>
            <a:ext cx="4317284" cy="14619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9394591-6AC4-40FA-8F48-EB4F77F2DD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1058" y="3696455"/>
            <a:ext cx="4317284" cy="189647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E54DC0-9AA4-45A4-A3D7-04A74488A8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1059" y="5191304"/>
            <a:ext cx="4317284" cy="1666696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7A1A927-B003-46CF-9411-CFFB84C1711A}"/>
              </a:ext>
            </a:extLst>
          </p:cNvPr>
          <p:cNvCxnSpPr>
            <a:cxnSpLocks/>
          </p:cNvCxnSpPr>
          <p:nvPr/>
        </p:nvCxnSpPr>
        <p:spPr>
          <a:xfrm flipH="1">
            <a:off x="2139517" y="5408222"/>
            <a:ext cx="10264" cy="667402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DDBC1A2-9491-470E-852C-41D7BB7260DF}"/>
              </a:ext>
            </a:extLst>
          </p:cNvPr>
          <p:cNvCxnSpPr>
            <a:cxnSpLocks/>
          </p:cNvCxnSpPr>
          <p:nvPr/>
        </p:nvCxnSpPr>
        <p:spPr>
          <a:xfrm>
            <a:off x="2139517" y="6075624"/>
            <a:ext cx="4455205" cy="0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EA7E2D2-4F23-46F4-BB59-9F76ED7F23BB}"/>
              </a:ext>
            </a:extLst>
          </p:cNvPr>
          <p:cNvCxnSpPr/>
          <p:nvPr/>
        </p:nvCxnSpPr>
        <p:spPr>
          <a:xfrm flipV="1">
            <a:off x="6585845" y="1876486"/>
            <a:ext cx="0" cy="4199138"/>
          </a:xfrm>
          <a:prstGeom prst="line">
            <a:avLst/>
          </a:prstGeom>
          <a:ln w="38100">
            <a:solidFill>
              <a:schemeClr val="tx1">
                <a:alpha val="6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168C41B-E420-4661-9D96-F3CF662E4CFC}"/>
              </a:ext>
            </a:extLst>
          </p:cNvPr>
          <p:cNvCxnSpPr>
            <a:cxnSpLocks/>
          </p:cNvCxnSpPr>
          <p:nvPr/>
        </p:nvCxnSpPr>
        <p:spPr>
          <a:xfrm>
            <a:off x="6594722" y="1876486"/>
            <a:ext cx="1066336" cy="12700"/>
          </a:xfrm>
          <a:prstGeom prst="straightConnector1">
            <a:avLst/>
          </a:prstGeom>
          <a:ln w="38100">
            <a:solidFill>
              <a:schemeClr val="tx1">
                <a:alpha val="6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6F0127C-7B13-4AEE-9655-A94DACEBFDC7}"/>
              </a:ext>
            </a:extLst>
          </p:cNvPr>
          <p:cNvSpPr/>
          <p:nvPr/>
        </p:nvSpPr>
        <p:spPr>
          <a:xfrm>
            <a:off x="4483924" y="77852"/>
            <a:ext cx="3072266" cy="1524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Пример работы моего проекта по рекомендациям гардероба по погоде для Сиднея.</a:t>
            </a:r>
          </a:p>
        </p:txBody>
      </p:sp>
    </p:spTree>
    <p:extLst>
      <p:ext uri="{BB962C8B-B14F-4D97-AF65-F5344CB8AC3E}">
        <p14:creationId xmlns:p14="http://schemas.microsoft.com/office/powerpoint/2010/main" val="3400338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5B80565-8F8F-4B45-AE59-93A09BC32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83" y="132408"/>
            <a:ext cx="2938324" cy="290355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1DBCC7-5C52-458A-8BC6-74C99A2D0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313" y="3158911"/>
            <a:ext cx="4577307" cy="35421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5D1A12-C423-4BF5-A017-B5DFBE34536B}"/>
              </a:ext>
            </a:extLst>
          </p:cNvPr>
          <p:cNvSpPr txBox="1"/>
          <p:nvPr/>
        </p:nvSpPr>
        <p:spPr>
          <a:xfrm>
            <a:off x="3946338" y="30953"/>
            <a:ext cx="5373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Выводы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8FDF3A8-20EF-46B8-A723-E2453A7861F4}"/>
              </a:ext>
            </a:extLst>
          </p:cNvPr>
          <p:cNvSpPr/>
          <p:nvPr/>
        </p:nvSpPr>
        <p:spPr>
          <a:xfrm>
            <a:off x="3367410" y="750693"/>
            <a:ext cx="8633320" cy="1893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Была успешно разработана и реализована система интеллектуального подбора гардероба на основе прогноза погоды с использованием машинного обучения. Доказана принципиальная возможность и практическая осуществимость создания веб-приложения, способного анализировать комплексные метеорологические данные и формировать рекомендации по одежде для пользователя с точностью более 85%.</a:t>
            </a:r>
            <a:endParaRPr lang="ru-RU" sz="16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B6E0BF-2D99-48BF-8F93-8D0C8AAFE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91" y="3429000"/>
            <a:ext cx="5038197" cy="3005602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DE9787-8DDC-4DF9-A4A5-C4C8C0F4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8485" y="6082008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64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E415542-53BF-45D5-AF7F-EC587D56C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63" y="168676"/>
            <a:ext cx="5405934" cy="29789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CA958D-DA4E-4F4E-B5A0-BFA9B5D7EBE7}"/>
              </a:ext>
            </a:extLst>
          </p:cNvPr>
          <p:cNvSpPr txBox="1"/>
          <p:nvPr/>
        </p:nvSpPr>
        <p:spPr>
          <a:xfrm>
            <a:off x="6478880" y="0"/>
            <a:ext cx="5405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Методы и материалы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3DEAE0-2685-45DA-9618-D1F994B44299}"/>
              </a:ext>
            </a:extLst>
          </p:cNvPr>
          <p:cNvSpPr/>
          <p:nvPr/>
        </p:nvSpPr>
        <p:spPr>
          <a:xfrm>
            <a:off x="6582205" y="538792"/>
            <a:ext cx="6096000" cy="189333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Языки программирования и фреймворки: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Python 3.9+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—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основной язык разработки.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Flask 3.0.0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—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веб-фреймворк для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HTML5/CSS3/JavaScript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— frontend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разработка.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scikit-learn 1.3.0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—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библиотека машинного обучения.</a:t>
            </a:r>
            <a:endParaRPr lang="ru-RU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CEBF7BB-61CE-49E3-BAC3-50426398E65B}"/>
              </a:ext>
            </a:extLst>
          </p:cNvPr>
          <p:cNvSpPr/>
          <p:nvPr/>
        </p:nvSpPr>
        <p:spPr>
          <a:xfrm>
            <a:off x="293372" y="3372979"/>
            <a:ext cx="6096000" cy="189333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Библиотеки и зависимости: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numpy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 — обработка и анализ данных.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requests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 — взаимодействие с внешними API.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python-dotenv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 — управление конфигурацией.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pickle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 — сериализация ML-моделей.</a:t>
            </a:r>
            <a:endParaRPr lang="ru-RU" sz="16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EA276B-7C9E-49CC-ABD3-0CAC2D8F5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880" y="3623258"/>
            <a:ext cx="5543624" cy="303447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37F92F7-CD2B-42CE-A520-FDBA454B91C4}"/>
              </a:ext>
            </a:extLst>
          </p:cNvPr>
          <p:cNvSpPr/>
          <p:nvPr/>
        </p:nvSpPr>
        <p:spPr>
          <a:xfrm>
            <a:off x="293372" y="5307136"/>
            <a:ext cx="6096000" cy="19325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Внешние сервисы и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API: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OpenWeatherMap API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—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источник метеорологических данных.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Emoji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—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библиотека иконок.</a:t>
            </a:r>
            <a:br>
              <a:rPr lang="ru-RU" dirty="0"/>
            </a:b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1F9A54A-7DF3-4F44-A2C7-4CA91510A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42569" y="5984245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650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BD5E48-6ED1-4AF5-AFD0-70860129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219" y="519959"/>
            <a:ext cx="4811697" cy="287359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E42EF6-5033-42C0-B6AC-21A767720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0" y="2925915"/>
            <a:ext cx="4811697" cy="35288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8EA772-550F-4DE0-9F36-DF81D70DFEBB}"/>
              </a:ext>
            </a:extLst>
          </p:cNvPr>
          <p:cNvSpPr txBox="1"/>
          <p:nvPr/>
        </p:nvSpPr>
        <p:spPr>
          <a:xfrm>
            <a:off x="1055090" y="337717"/>
            <a:ext cx="4521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Список литературы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074611-D105-4F1F-BC73-CC4003692DBF}"/>
              </a:ext>
            </a:extLst>
          </p:cNvPr>
          <p:cNvSpPr/>
          <p:nvPr/>
        </p:nvSpPr>
        <p:spPr>
          <a:xfrm>
            <a:off x="0" y="1260098"/>
            <a:ext cx="6096000" cy="11546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algn="just">
              <a:lnSpc>
                <a:spcPct val="150000"/>
              </a:lnSpc>
              <a:spcAft>
                <a:spcPts val="800"/>
              </a:spcAft>
            </a:pPr>
            <a:r>
              <a:rPr lang="ru-RU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Géron, A.  </a:t>
            </a: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Hands-On Machine Learning with Scikit-Learn, Keras, and TensorFlow. </a:t>
            </a:r>
            <a:r>
              <a:rPr lang="ru-RU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/ Géron, A.  — 2-е изд. — : O'Reilly Media., 2019 — 861 c.</a:t>
            </a:r>
            <a:endParaRPr lang="ru-RU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45CE1CB-DB90-4992-A62E-60712DE065BA}"/>
              </a:ext>
            </a:extLst>
          </p:cNvPr>
          <p:cNvSpPr/>
          <p:nvPr/>
        </p:nvSpPr>
        <p:spPr>
          <a:xfrm>
            <a:off x="6861218" y="3988393"/>
            <a:ext cx="4811697" cy="1154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</a:t>
            </a:r>
            <a:r>
              <a:rPr lang="ru-RU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Воронцов, К. В. Математические методы обучения по прецедентам / К. В. Воронцов, 2013 — 140 c.</a:t>
            </a:r>
            <a:endParaRPr lang="ru-RU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D314EE1-0ED6-4F93-A604-27D971B9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1486" y="6055917"/>
            <a:ext cx="1142245" cy="669925"/>
          </a:xfrm>
        </p:spPr>
        <p:txBody>
          <a:bodyPr/>
          <a:lstStyle/>
          <a:p>
            <a:fld id="{0D028360-FC51-4A1D-A919-30A0982FFF88}" type="slidenum">
              <a:rPr lang="ru-RU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21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CFF18B4-251D-42B9-BB2D-B5C97DDC8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28360-FC51-4A1D-A919-30A0982FFF88}" type="slidenum">
              <a:rPr lang="ru-RU" smtClean="0"/>
              <a:t>16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CF045-DC43-4F87-9CAD-34D194F4FFD4}"/>
              </a:ext>
            </a:extLst>
          </p:cNvPr>
          <p:cNvSpPr txBox="1"/>
          <p:nvPr/>
        </p:nvSpPr>
        <p:spPr>
          <a:xfrm>
            <a:off x="2418862" y="164124"/>
            <a:ext cx="7354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Ссылки на дополнительные материалы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905660-05E5-4B12-86D3-4D3B8D79286C}"/>
              </a:ext>
            </a:extLst>
          </p:cNvPr>
          <p:cNvSpPr txBox="1"/>
          <p:nvPr/>
        </p:nvSpPr>
        <p:spPr>
          <a:xfrm>
            <a:off x="304799" y="921732"/>
            <a:ext cx="49315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https://talalai-project-1.onrender.com</a:t>
            </a: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37D67-6F85-4DDD-B26F-790159B2B357}"/>
              </a:ext>
            </a:extLst>
          </p:cNvPr>
          <p:cNvSpPr txBox="1"/>
          <p:nvPr/>
        </p:nvSpPr>
        <p:spPr>
          <a:xfrm>
            <a:off x="3884245" y="906343"/>
            <a:ext cx="47361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—  ссылка на работающее веб-приложение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4449A-A438-4F0D-8812-CCC35810368D}"/>
              </a:ext>
            </a:extLst>
          </p:cNvPr>
          <p:cNvSpPr txBox="1"/>
          <p:nvPr/>
        </p:nvSpPr>
        <p:spPr>
          <a:xfrm>
            <a:off x="5767753" y="1294619"/>
            <a:ext cx="36341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— ссылка код программы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EC98E5-D972-46F1-81EB-1AA03D041D50}"/>
              </a:ext>
            </a:extLst>
          </p:cNvPr>
          <p:cNvSpPr txBox="1"/>
          <p:nvPr/>
        </p:nvSpPr>
        <p:spPr>
          <a:xfrm>
            <a:off x="304799" y="1275675"/>
            <a:ext cx="5533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https://github.com/stepantalalai-oss/Talalai_Project_1/tree/main/weather_app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8360540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922</TotalTime>
  <Words>973</Words>
  <Application>Microsoft Office PowerPoint</Application>
  <PresentationFormat>Широкоэкранный</PresentationFormat>
  <Paragraphs>164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Century Gothic</vt:lpstr>
      <vt:lpstr>Wingdings 3</vt:lpstr>
      <vt:lpstr>Сектор</vt:lpstr>
      <vt:lpstr>Государственное бюджетное общеобразовательное учреждение города Москвы «Вешняковская школа имени полного кавалера ордена Славы  В.П. Бехтина» Федеральное государственное бюджетное образовательное учреждение высшего образования «МИРЭА — Российский технологический университет» </vt:lpstr>
      <vt:lpstr>Презентация PowerPoint</vt:lpstr>
      <vt:lpstr>Презентация PowerPoint</vt:lpstr>
      <vt:lpstr>Актуальность работы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Государственное бюджетное общеобразовательное учреждение города Москвы «Вешняковская школа имени полного кавалера ордена Славы  В.П. Бехтина» Федеральное государственное бюджетное образовательное учреждение высшего образования «МИРЭА — Российский технологический университет»</dc:title>
  <dc:creator>Admin</dc:creator>
  <cp:lastModifiedBy>Admin</cp:lastModifiedBy>
  <cp:revision>80</cp:revision>
  <cp:lastPrinted>2026-02-04T08:55:29Z</cp:lastPrinted>
  <dcterms:created xsi:type="dcterms:W3CDTF">2026-01-22T08:14:05Z</dcterms:created>
  <dcterms:modified xsi:type="dcterms:W3CDTF">2026-03-16T13:44:57Z</dcterms:modified>
</cp:coreProperties>
</file>